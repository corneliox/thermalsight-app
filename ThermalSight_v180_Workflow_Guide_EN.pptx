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F172A"/>
                </a:solidFill>
                <a:latin typeface="Arial"/>
              </a:rPr>
              <a:t>ThermalSight v1.8.0</a:t>
            </a:r>
          </a:p>
          <a:p>
            <a:pPr>
              <a:spcBef>
                <a:spcPts val="1200"/>
              </a:spcBef>
            </a:pPr>
            <a:r>
              <a:rPr sz="2400" b="1">
                <a:solidFill>
                  <a:srgbClr val="0369A1"/>
                </a:solidFill>
                <a:latin typeface="Arial"/>
              </a:rPr>
              <a:t>Foot Thermal Image Processing &amp; Diagnostic Workflow</a:t>
            </a:r>
          </a:p>
          <a:p>
            <a:pPr>
              <a:spcBef>
                <a:spcPts val="1600"/>
              </a:spcBef>
            </a:pPr>
            <a:r>
              <a:rPr sz="1600">
                <a:solidFill>
                  <a:srgbClr val="334155"/>
                </a:solidFill>
                <a:latin typeface="Arial"/>
              </a:rPr>
              <a:t>A Simple &amp; Clear Guide: From FLIR Thermal Camera Capture to Ready-to-Publish Medical Analysis</a:t>
            </a:r>
          </a:p>
          <a:p>
            <a:pPr>
              <a:spcBef>
                <a:spcPts val="3600"/>
              </a:spcBef>
            </a:pPr>
            <a:r>
              <a:rPr sz="1300">
                <a:solidFill>
                  <a:srgbClr val="64748B"/>
                </a:solidFill>
                <a:latin typeface="Arial"/>
              </a:rPr>
              <a:t>Designed for high clarity, large legibility, and straightforward understanding for senior audiences, physicians, and professors.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1  </a:t>
            </a:r>
            <a:r>
              <a:rPr sz="2800" b="1">
                <a:solidFill>
                  <a:srgbClr val="0F172A"/>
                </a:solidFill>
                <a:latin typeface="Arial"/>
              </a:rPr>
              <a:t>Input Data: What Goes Into the System?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The types of thermal images accepted by ThermalSight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1. FLIR Thermal Images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Uses genuine radiometric images from FLIR cameras (.jpg, .png, or .tiff).
• These are not ordinary photos: every pixel carries true, calibrated physical temperature values in degrees Celsius.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2. Flexible Input Modes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Single Image Mode: Select 1 photo for instant inspection.
• Sequence Folder Mode: Select an entire folder containing 10–50 consecutive patient walk/treadmill images.
• Or simply Drag &amp; Drop files directly onto the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3. Smart Root Filter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If the folder contains previous result subfolders (_Result or _analysis), the app automatically ignores them.
• Only primary patient photos in the root folder are loaded, preventing any duplicate or mixed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2  </a:t>
            </a:r>
            <a:r>
              <a:rPr sz="2800" b="1">
                <a:solidFill>
                  <a:srgbClr val="0F172A"/>
                </a:solidFill>
                <a:latin typeface="Arial"/>
              </a:rPr>
              <a:t>FLIR Image Cleaning (Pure Radiometric Sensor)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How the system extracts clean, natural foot images without artificial blur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175504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The Problem: Camera Stamps &amp; Overlays
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FLIR cameras burn unwanted visual accessories onto pictures:
• Temperature text badges (e.g., '35.0 °C' in the top corner)
• Company branding logo ('FLIR' in the bottom corner)
• Right-side vertical color scale bar (colorbar)
• Center crosshair / reticle mark
If erased using ordinary image patching (blur / inpaint), the foot boundaries become fuzzy, distorted, and clinically unreliable.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2784" y="2011680"/>
            <a:ext cx="5175504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 bIns="320040"/>
          <a:lstStyle/>
          <a:p>
            <a:pPr algn="ctr"/>
            <a:r>
              <a:rPr sz="2000" b="1">
                <a:solidFill>
                  <a:srgbClr val="0369A1"/>
                </a:solidFill>
                <a:latin typeface="Arial"/>
              </a:rPr>
              <a:t>The v1.8.0 Solution: Pure Sensor Extraction
</a:t>
            </a:r>
          </a:p>
          <a:p>
            <a:pPr>
              <a:spcBef>
                <a:spcPts val="12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ThermalSight decodes raw 16-bit sensor bytes directly using Planck radiometric equations (via 'flyr'):
✓ Zero artificial blurring or pixel patching.
✓ Logos, 35°C badges, and colorbars vanish naturally at byte level.
✓ 100% of physical sensor accuracy is preserved bit-for-bit.
Result: You get a completely pristine, crystal-clear thermal foot image ready for precise measurement.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3  </a:t>
            </a:r>
            <a:r>
              <a:rPr sz="2800" b="1">
                <a:solidFill>
                  <a:srgbClr val="0F172A"/>
                </a:solidFill>
                <a:latin typeface="Arial"/>
              </a:rPr>
              <a:t>Application Workflow (4 Practical Stages)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The simple step-by-step user journey from start to finish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1
</a:t>
            </a:r>
            <a:r>
              <a:rPr sz="1800" b="1">
                <a:solidFill>
                  <a:srgbClr val="0F172A"/>
                </a:solidFill>
                <a:latin typeface="Arial"/>
              </a:rPr>
              <a:t>Upload Images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Open 1 single photo or an entire sequence folder.
The system safely reads and validates all files with a clear progress bar.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2
</a:t>
            </a:r>
            <a:r>
              <a:rPr sz="1800" b="1">
                <a:solidFill>
                  <a:srgbClr val="0F172A"/>
                </a:solidFill>
                <a:latin typeface="Arial"/>
              </a:rPr>
              <a:t>Calibrate Scale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Draw a box over a reference card (e.g., 10×10 cm) or ruler line.
Purpose: Matches computer screen pixels exactly to real human anatomy (px to cm).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3
</a:t>
            </a:r>
            <a:r>
              <a:rPr sz="1800" b="1">
                <a:solidFill>
                  <a:srgbClr val="0F172A"/>
                </a:solidFill>
                <a:latin typeface="Arial"/>
              </a:rPr>
              <a:t>Mark Foot Points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Single-click on clinical landmarks (e.g., big toe or ball of foot).
A standardized circle forms instantly and heat spread direction is calculated.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2011680"/>
            <a:ext cx="2468880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200" b="1">
                <a:solidFill>
                  <a:srgbClr val="0369A1"/>
                </a:solidFill>
                <a:latin typeface="Arial"/>
              </a:rPr>
              <a:t>STAGE 4
</a:t>
            </a:r>
            <a:r>
              <a:rPr sz="1800" b="1">
                <a:solidFill>
                  <a:srgbClr val="0F172A"/>
                </a:solidFill>
                <a:latin typeface="Arial"/>
              </a:rPr>
              <a:t>Save &amp; Export
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334155"/>
                </a:solidFill>
                <a:latin typeface="Arial"/>
              </a:rPr>
              <a:t>Click 'Save &amp; Export'.
The app automatically compiles journal-quality figures, numeric CSV spreadsheets, and a ZIP archive.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4  </a:t>
            </a:r>
            <a:r>
              <a:rPr sz="2800" b="1">
                <a:solidFill>
                  <a:srgbClr val="0F172A"/>
                </a:solidFill>
                <a:latin typeface="Arial"/>
              </a:rPr>
              <a:t>9×9 Grid Standardization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How circular observation windows are standardized and why 9×9 cells matter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1. Exact 9×9 Cell Dimension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In clinical research, the plantar sole is mapped onto a uniform geometric grid.
• Each landmark circle is locked to exactly 9 grid cells in diameter (radius = 4.5 cells).
• Purpose: Guarantees that temperature readings and heat-flux calculations are fair, uniform, and reproducible across all patients.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2011680"/>
            <a:ext cx="3328416" cy="41148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F172A"/>
                </a:solidFill>
                <a:latin typeface="Arial"/>
              </a:rPr>
              <a:t>2. Dynamic Distance Sync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Camera distance can vary between photo sessions (some taken closer, some farther away).
• Thanks to initial scale calibration, the app dynamically scales the screen pixels.
• The real physical size on the patient's skin stays perfectly constant: exactly 1.2 cm.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2011680"/>
            <a:ext cx="3328416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369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/>
            <a:r>
              <a:rPr sz="2000" b="1">
                <a:solidFill>
                  <a:srgbClr val="0369A1"/>
                </a:solidFill>
                <a:latin typeface="Arial"/>
              </a:rPr>
              <a:t>3. Seamless Auto-Upgrade
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334155"/>
                </a:solidFill>
                <a:latin typeface="Arial"/>
              </a:rPr>
              <a:t>• If you open an older session file (v1.6 / v1.7) where circles were smaller (e.g. 6×6):
✓ The app automatically rescales them to the 9×9 standard.
✓ Landmark center points (cx, cy) stay 100% frozen in place.
✓ Historical research data is upgraded instantly without redrawing!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65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>
                <a:solidFill>
                  <a:srgbClr val="0369A1"/>
                </a:solidFill>
                <a:latin typeface="Arial"/>
              </a:rPr>
              <a:t>STEP 5  </a:t>
            </a:r>
            <a:r>
              <a:rPr sz="2800" b="1">
                <a:solidFill>
                  <a:srgbClr val="0F172A"/>
                </a:solidFill>
                <a:latin typeface="Arial"/>
              </a:rPr>
              <a:t>Final Deliverables &amp; Results (Output Package)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64748B"/>
                </a:solidFill>
                <a:latin typeface="Arial"/>
              </a:rPr>
              <a:t>The complete set of scientific charts, images, and tables produced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1. Journal Publication Figures (Figure 1)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High-contrast monochrome (white-hot) foot background.
• High-resolution false-color (Ironbow) thermal circles inside ROIs.
• Precision hairline grid overlays meeting journal standards.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2784" y="201168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2. Directional Heat Spread Maps (Compass)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Samples thermal propagation along 8 compass directions (N, NE, E, SE, S, SW, W, NW).
• Vectors and radar rose reveal dominant heat-flow drift across the foot.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0624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3. Comprehensive Tabular Metrics (CSV / Excel)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Tabulates maximum, minimum, and mean temperatures per landmark.
• Records physical pixel-to-cm calibration ratios for medical audit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4206240"/>
            <a:ext cx="5175504" cy="1965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  <a:r>
              <a:rPr sz="1700" b="1">
                <a:solidFill>
                  <a:srgbClr val="0369A1"/>
                </a:solidFill>
                <a:latin typeface="Arial"/>
              </a:rPr>
              <a:t>4. 1-Click Portable Archive (ZIP &amp; JSON)
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334155"/>
                </a:solidFill>
                <a:latin typeface="Arial"/>
              </a:rPr>
              <a:t>• Bundles all figures, vector maps, and spreadsheets into 1 structured ZIP archive.
• Portable session backup (.json) allows resuming work anytime without data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