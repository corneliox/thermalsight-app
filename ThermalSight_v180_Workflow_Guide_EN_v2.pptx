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rial"/>
              </a:rPr>
              <a:t>ThermalSight v1.8.0</a:t>
            </a:r>
          </a:p>
          <a:p>
            <a:pPr>
              <a:spcBef>
                <a:spcPts val="1200"/>
              </a:spcBef>
            </a:pPr>
            <a:r>
              <a:rPr sz="2400" b="1">
                <a:solidFill>
                  <a:srgbClr val="0369A1"/>
                </a:solidFill>
                <a:latin typeface="Arial"/>
              </a:rPr>
              <a:t>Foot Thermal Image Processing &amp; Diagnostic Workflow</a:t>
            </a:r>
          </a:p>
          <a:p>
            <a:pPr>
              <a:spcBef>
                <a:spcPts val="1600"/>
              </a:spcBef>
            </a:pPr>
            <a:r>
              <a:rPr sz="1600">
                <a:solidFill>
                  <a:srgbClr val="334155"/>
                </a:solidFill>
                <a:latin typeface="Arial"/>
              </a:rPr>
              <a:t>A Simple &amp; Clear Guide: From FLIR Thermal Camera Capture to Ready-to-Publish Medical Analysis</a:t>
            </a:r>
          </a:p>
          <a:p>
            <a:pPr>
              <a:spcBef>
                <a:spcPts val="3600"/>
              </a:spcBef>
            </a:pPr>
            <a:r>
              <a:rPr sz="1300">
                <a:solidFill>
                  <a:srgbClr val="64748B"/>
                </a:solidFill>
                <a:latin typeface="Arial"/>
              </a:rPr>
              <a:t>Designed for high clarity, large legibility, and straightforward understanding for senior audiences, physicians, and professors.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1  </a:t>
            </a:r>
            <a:r>
              <a:rPr sz="2800" b="1">
                <a:solidFill>
                  <a:srgbClr val="0F172A"/>
                </a:solidFill>
                <a:latin typeface="Arial"/>
              </a:rPr>
              <a:t>Input Data: What Goes Into the System?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The types of thermal images accepted by ThermalSight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1. FLIR Thermal Images
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Uses genuine radiometric images from FLIR cameras (.jpg, .png, or .tiff).
• These are not ordinary photos: every single pixel carries true, calibrated physical temperature values in degrees Celsius.
• Works with handheld FLIR E-series, ONE, and clinical station cameras.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2. Flexible Input Modes
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Single Image Mode: Select 1 photo for immediate clinical inspection.
• Sequence Folder Mode: Select an entire folder of 10–50 consecutive patient walking or cooling frames.
• Or simply Drag &amp; Drop image files directly into the software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3. Smart Root Filter
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If the patient folder contains previous result subfolders (_Result or _analysis), the app automatically skips them.
• Only primary patient photos in the root directory are processed, avoiding any duplicate or corrupted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2  </a:t>
            </a:r>
            <a:r>
              <a:rPr sz="2800" b="1">
                <a:solidFill>
                  <a:srgbClr val="0F172A"/>
                </a:solidFill>
                <a:latin typeface="Arial"/>
              </a:rPr>
              <a:t>FLIR Image Cleaning (Pure Radiometric Sensor)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How the system extracts clean, natural foot images without artificial blur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1900" b="1">
                <a:solidFill>
                  <a:srgbClr val="0F172A"/>
                </a:solidFill>
                <a:latin typeface="Arial"/>
              </a:rPr>
              <a:t>Why 'Pristine Mode' (Mode Mula-mula)?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• FLIR cameras burn logos, temperature tags ('35°C'), and colorbars directly over the images.
• Old Method (Inpainting/Blur): Erased stamps but blurred skin margins and distorted temperature values.
• ThermalSight v1.8.0 Solution: Direct 16-bit radiometric byte decoding via Planck equations.
✓ All overlays vanish naturally at the byte level.
✓ Zero artificial blurring or pixel interpolation.
✓ 100% true physical temperature accuracy preserved.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lir_cleaning_comparison_3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94560"/>
            <a:ext cx="493776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84708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369A1"/>
                </a:solidFill>
                <a:latin typeface="Arial"/>
              </a:rPr>
              <a:t>Visual Comparison: Mode Mula-mula vs Inpainting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3  </a:t>
            </a:r>
            <a:r>
              <a:rPr sz="2800" b="1">
                <a:solidFill>
                  <a:srgbClr val="0F172A"/>
                </a:solidFill>
                <a:latin typeface="Arial"/>
              </a:rPr>
              <a:t>Application Workflow (4 Practical Stages)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The simple step-by-step user journey from start to finish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1
</a:t>
            </a:r>
            <a:r>
              <a:rPr sz="1800" b="1">
                <a:solidFill>
                  <a:srgbClr val="0F172A"/>
                </a:solidFill>
                <a:latin typeface="Arial"/>
              </a:rPr>
              <a:t>Upload Images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Open 1 single photo or an entire sequence folder.
The system safely reads and validates all files with a clear progress bar.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73736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2
</a:t>
            </a:r>
            <a:r>
              <a:rPr sz="1800" b="1">
                <a:solidFill>
                  <a:srgbClr val="0F172A"/>
                </a:solidFill>
                <a:latin typeface="Arial"/>
              </a:rPr>
              <a:t>Calibrate Scale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Draw a line or box over a known reference ruler (e.g., 10 cm).
Matches computer screen pixels exactly to real human anatomy (px to cm).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3
</a:t>
            </a:r>
            <a:r>
              <a:rPr sz="1800" b="1">
                <a:solidFill>
                  <a:srgbClr val="0F172A"/>
                </a:solidFill>
                <a:latin typeface="Arial"/>
              </a:rPr>
              <a:t>Mark Foot Points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Single-click on clinical landmarks (big toe, ball of foot, heel).
A standardized 9×9 circle forms instantly with radial heat spread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37360"/>
            <a:ext cx="24688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4
</a:t>
            </a:r>
            <a:r>
              <a:rPr sz="1800" b="1">
                <a:solidFill>
                  <a:srgbClr val="0F172A"/>
                </a:solidFill>
                <a:latin typeface="Arial"/>
              </a:rPr>
              <a:t>Save &amp; Export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Click 'Save &amp; Export'.
The app automatically compiles journal-quality figures, numeric CSV spreadsheets, and a ZIP archive.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4  </a:t>
            </a:r>
            <a:r>
              <a:rPr sz="2800" b="1">
                <a:solidFill>
                  <a:srgbClr val="0F172A"/>
                </a:solidFill>
                <a:latin typeface="Arial"/>
              </a:rPr>
              <a:t>9×9 Grid Standardization System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Physical calibration, 81 sub-cell matrix, and seamless legacy session auto-upgrade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2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rial"/>
              </a:rPr>
              <a:t>1. Exact 9×9 Cell Dimension</a:t>
            </a:r>
          </a:p>
        </p:txBody>
      </p:sp>
      <p:pic>
        <p:nvPicPr>
          <p:cNvPr id="5" name="Picture 4" descr="step4_grid9x9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23160"/>
            <a:ext cx="2779776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526280"/>
            <a:ext cx="29626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4155"/>
                </a:solidFill>
                <a:latin typeface="Arial"/>
              </a:rPr>
              <a:t>• Standardizes each landmark circle to exactly 9 grid cells in diameter (radius = 4.5 cells).
• Contains 81 subcells for micro-gradient tracking across the plantar 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737360"/>
            <a:ext cx="3328416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87452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rial"/>
              </a:rPr>
              <a:t>2. Dynamic Distance Sync</a:t>
            </a:r>
          </a:p>
        </p:txBody>
      </p:sp>
      <p:pic>
        <p:nvPicPr>
          <p:cNvPr id="9" name="Picture 8" descr="step4_dynamic_distance_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514600"/>
            <a:ext cx="2962656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576" y="4526280"/>
            <a:ext cx="29626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4155"/>
                </a:solidFill>
                <a:latin typeface="Arial"/>
              </a:rPr>
              <a:t>• Camera distances vary across clinical sessions (closer vs farther).
• The software dynamically scales on-screen pixels so the physical skin footprint stays constant: exactly 1.2 cm.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37360"/>
            <a:ext cx="3328416" cy="45720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874520"/>
            <a:ext cx="30540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369A1"/>
                </a:solidFill>
                <a:latin typeface="Arial"/>
              </a:rPr>
              <a:t>3. Seamless Auto-Upgrade</a:t>
            </a:r>
          </a:p>
        </p:txBody>
      </p:sp>
      <p:pic>
        <p:nvPicPr>
          <p:cNvPr id="13" name="Picture 12" descr="step4_legacy_upgrade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514600"/>
            <a:ext cx="2962656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2752" y="4526280"/>
            <a:ext cx="29626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4155"/>
                </a:solidFill>
                <a:latin typeface="Arial"/>
              </a:rPr>
              <a:t>• When loading older sessions (v1.6 / v1.7 with 6×6 circles), the app auto-enlarges the radius to standard 9×9.
• Center points stay locked in place: historical annotations are instantly modernized.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5  </a:t>
            </a:r>
            <a:r>
              <a:rPr sz="2800" b="1">
                <a:solidFill>
                  <a:srgbClr val="0F172A"/>
                </a:solidFill>
                <a:latin typeface="Arial"/>
              </a:rPr>
              <a:t>Final Deliverables &amp; Results (Output Package)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Comprehensive visual overview: 4 standardized publication and clinical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75504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ep5_fig1_publication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20240"/>
            <a:ext cx="2148840" cy="1783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1874520"/>
            <a:ext cx="260604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369A1"/>
                </a:solidFill>
                <a:latin typeface="Arial"/>
              </a:rPr>
              <a:t>1. Journal Publication Figure 1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• High-contrast monochrome foot with false-color ROIs.
• Precision hairline grids ready for journal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737360"/>
            <a:ext cx="5175504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ep5_directional_compas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920240"/>
            <a:ext cx="2148840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95944" y="1874520"/>
            <a:ext cx="260604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369A1"/>
                </a:solidFill>
                <a:latin typeface="Arial"/>
              </a:rPr>
              <a:t>2. Directional Heat Spread (Compass)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• Samples thermal propagation in 8 compass directions.
• Localized 9×9 vector grid reveals inflammation 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75504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p5_tabular_metric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97680"/>
            <a:ext cx="2148840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54680" y="4251960"/>
            <a:ext cx="260604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369A1"/>
                </a:solidFill>
                <a:latin typeface="Arial"/>
              </a:rPr>
              <a:t>3. Automated Metrics (CSV / Excel)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• Min, max, mean temps per landmark with asymmetry.
• Flags hotspots exceeding clinical ulcer risk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4114800"/>
            <a:ext cx="5175504" cy="2148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5_zip_archive_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4297680"/>
            <a:ext cx="2148840" cy="1783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95944" y="4251960"/>
            <a:ext cx="260604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369A1"/>
                </a:solidFill>
                <a:latin typeface="Arial"/>
              </a:rPr>
              <a:t>4. 1-Click Portable Archive (ZIP)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334155"/>
                </a:solidFill>
                <a:latin typeface="Arial"/>
              </a:rPr>
              <a:t>• Bundles figures, matrices (.npy), and metadata (.json).
• Portable package for complete research reproducibility.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5 — DELIVERABLE 1  </a:t>
            </a:r>
            <a:r>
              <a:rPr sz="2800" b="1">
                <a:solidFill>
                  <a:srgbClr val="0F172A"/>
                </a:solidFill>
                <a:latin typeface="Arial"/>
              </a:rPr>
              <a:t>Plantar Overview Figure 1 (Publication Grade)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Bilateral comparison: Visible-light anatomy vs calibrated thermal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62179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ep5_fig1_publication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943600" cy="4023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737360"/>
            <a:ext cx="432785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Key Scientific Features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• Panel A (PPP): Visible grayscale foot contour with locked aspect ratio and millimeter scale bar.
• Panel B (Thermal): Calibrated temperature map with 9×9 ROI circles rendered in high-contrast Ironbow palette.
• Dynamic Colorbar: Embedded temperature scale (°C) with calibrated min/max limits.
• Journal Compliance: Exported at 300 DPI, ready for direct submission to medical journals (IEEE, Elsevier, Springer).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5 — DELIVERABLE 2  </a:t>
            </a:r>
            <a:r>
              <a:rPr sz="2800" b="1">
                <a:solidFill>
                  <a:srgbClr val="0F172A"/>
                </a:solidFill>
                <a:latin typeface="Arial"/>
              </a:rPr>
              <a:t>8-Directional Heat Spread Maps (Compass)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Quantifying radial heat propagation vectors across plantar tissue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6583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ep5_directional_compa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630936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737360"/>
            <a:ext cx="396209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Directional Inflammation Analysis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• 8 Compass Vectors: Evaluates temperature flow in cardinal directions (N, NE, E, SE, S, SW, W, NW).
• Gradient Magnitudes: Detects whether heat is escaping toward the toes or radiating into the midfoot arch.
• Early Ulcer Warning: Identifies asymmetric heat plumes before physical skin breakdown occurs.
• Polar Radar Rose: Provides an intuitive visual summary for rapid clinical consultation.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5 — DELIVERABLE 3  </a:t>
            </a:r>
            <a:r>
              <a:rPr sz="2800" b="1">
                <a:solidFill>
                  <a:srgbClr val="0F172A"/>
                </a:solidFill>
                <a:latin typeface="Arial"/>
              </a:rPr>
              <a:t>Automated Tabular Metrics (CSV / Excel)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Numeric temperature statistics and bilateral asymmetry screening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6583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ep5_tabular_metric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630936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737360"/>
            <a:ext cx="396209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Clinical Screening Rules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• Bilateral Comparison: Calculates Delta-T (|Left - Right|) for corresponding foot landmarks.
• International Rule: Temperature asymmetry &gt; 2.2 °C indicates high risk of acute inflammation or impending ulceration.
• Automated Flagging: Highlights high-risk zones in red for immediate clinical attention.
• Audit Trail: Exports pixel-to-cm calibration metrics alongside temperature statistics.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5 — DELIVERABLE 4  </a:t>
            </a:r>
            <a:r>
              <a:rPr sz="2800" b="1">
                <a:solidFill>
                  <a:srgbClr val="0F172A"/>
                </a:solidFill>
                <a:latin typeface="Arial"/>
              </a:rPr>
              <a:t>1-Click Portable Archive (Structured ZIP &amp; JSON)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Complete research package: Figures, spreadsheets, and reproducible raw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658368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ep5_zip_archive_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630936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737360"/>
            <a:ext cx="3962095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Complete Data Reproducibility
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• Self-Contained Package: Everything needed for audits, presentations, and peer-reviewed journals in 1 archive.
• Raw Arrays (.npy): Preserves original 16-bit thermal matrices for secondary algorithm verification.
• JSON Session Backup: Allows reopening the session in ThermalSight anytime without re-annotating.
• Medical Record Friendly: Easy to attach to hospital Electronic Health Records (EHR).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